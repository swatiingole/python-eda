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  <p:sldId id="271" r:id="rId15"/>
    <p:sldId id="272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48319" y="3868815"/>
            <a:ext cx="724618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/>
              <a:t>“  Web Scraping and Analysis of Manali Tour Packages  ”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A6EE4D7C-D276-4BC6-76B2-68B177C9F697}"/>
              </a:ext>
            </a:extLst>
          </p:cNvPr>
          <p:cNvSpPr txBox="1"/>
          <p:nvPr/>
        </p:nvSpPr>
        <p:spPr>
          <a:xfrm>
            <a:off x="945200" y="1299066"/>
            <a:ext cx="10564927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Background: </a:t>
            </a:r>
            <a:r>
              <a:rPr lang="en-IN" sz="20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B.Tech</a:t>
            </a: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(Computer Science)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Why Data Analytics: </a:t>
            </a: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Because I enjoy converting raw data into meaningful insights. SQL and analytics help me understand real-world business problems and make data-driven decisions.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Work Experience: Fresher</a:t>
            </a:r>
          </a:p>
        </p:txBody>
      </p:sp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88FE3756-71A7-D379-08BB-DFE101C26CC0}"/>
              </a:ext>
            </a:extLst>
          </p:cNvPr>
          <p:cNvSpPr txBox="1"/>
          <p:nvPr/>
        </p:nvSpPr>
        <p:spPr>
          <a:xfrm>
            <a:off x="578485" y="510716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BDEF-5464-77F7-6321-F53CF27E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81" y="553662"/>
            <a:ext cx="10515600" cy="53042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Problem Statement</a:t>
            </a: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F55DA-CAA8-5EA2-1979-38ACDF8CA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390" y="1253330"/>
            <a:ext cx="11755224" cy="5147469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Travelers often want to find and compare the best </a:t>
            </a:r>
            <a:r>
              <a:rPr lang="en-US" sz="2000" b="1" dirty="0"/>
              <a:t>Manali tour packages</a:t>
            </a:r>
            <a:r>
              <a:rPr lang="en-US" sz="2000" dirty="0"/>
              <a:t> in one place, but the information on many travel websites is scattered across multiple pages and formats. It becomes difficult to: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Understand what destinations and experiences are available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Compare costs, inclusions, and features of different packages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Interpret why certain locations or types of tours are highlighted over others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To help users make better decisions, it’s essential to analyze and structure the information on this </a:t>
            </a:r>
            <a:r>
              <a:rPr lang="en-US" sz="2000" dirty="0" err="1"/>
              <a:t>manali</a:t>
            </a:r>
            <a:r>
              <a:rPr lang="en-US" sz="2000" dirty="0"/>
              <a:t>  tour packages page in a clear, systematic way.</a:t>
            </a:r>
          </a:p>
          <a:p>
            <a:pPr marL="11430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20520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7CE0-BB7E-F2CF-C8BD-2BD17DBC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11" y="610222"/>
            <a:ext cx="10515600" cy="80379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Objective</a:t>
            </a: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0992F-1B77-EAAB-4F69-7D069C3C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main objectives of analyzing the given link are:</a:t>
            </a:r>
          </a:p>
          <a:p>
            <a:pPr algn="just"/>
            <a:r>
              <a:rPr lang="en-US" sz="2400" dirty="0"/>
              <a:t>Identify and understand the structure of tour package information offered for Manali.</a:t>
            </a:r>
          </a:p>
          <a:p>
            <a:pPr algn="just"/>
            <a:r>
              <a:rPr lang="en-US" sz="2400" dirty="0"/>
              <a:t>Extract useful insights such as destination options, types of tours, price ranges, and inclusions.</a:t>
            </a:r>
          </a:p>
          <a:p>
            <a:pPr algn="just"/>
            <a:r>
              <a:rPr lang="en-US" sz="2400" dirty="0"/>
              <a:t>Present this information in an organized format that helps users quickly evaluate what the India tour packages include and why they may choose a particular one.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578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0859-E238-689E-9621-F5F1D150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80" y="5065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From Where the Data Is Obtained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679FC-0168-3B71-13FC-E149F2969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749" y="155224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All the information and the data for analysis comes directly from the </a:t>
            </a:r>
            <a:r>
              <a:rPr lang="en-US" sz="2400" b="1" dirty="0"/>
              <a:t>Travel Triangle tour packages page.</a:t>
            </a:r>
            <a:endParaRPr lang="en-US" sz="2400" dirty="0"/>
          </a:p>
          <a:p>
            <a:pPr marL="114300" indent="0" algn="just">
              <a:buNone/>
            </a:pPr>
            <a:r>
              <a:rPr lang="en-US" sz="2400" b="1" dirty="0"/>
              <a:t> Including:</a:t>
            </a:r>
          </a:p>
          <a:p>
            <a:pPr algn="just"/>
            <a:r>
              <a:rPr lang="en-US" sz="2400" dirty="0"/>
              <a:t>Lists of Manali destinations and top places to visit</a:t>
            </a:r>
          </a:p>
          <a:p>
            <a:pPr algn="just"/>
            <a:r>
              <a:rPr lang="en-US" sz="2400" dirty="0"/>
              <a:t>Descriptions of regions and their attractions</a:t>
            </a:r>
          </a:p>
          <a:p>
            <a:pPr algn="just"/>
            <a:r>
              <a:rPr lang="en-US" sz="2400" dirty="0"/>
              <a:t>Examples of packages with durations, prices, and features</a:t>
            </a:r>
          </a:p>
          <a:p>
            <a:pPr algn="just"/>
            <a:r>
              <a:rPr lang="en-US" sz="2400" dirty="0"/>
              <a:t>Customizable filters like budget and activities etc.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610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E857-6685-8E0F-D684-AAE94CCD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30" y="544235"/>
            <a:ext cx="6722097" cy="46443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Web Scraping – Details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94F67-AF07-F64A-D5CE-1E95052F3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33254"/>
            <a:ext cx="10515600" cy="524370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Website Scraped</a:t>
            </a:r>
          </a:p>
          <a:p>
            <a:pPr lvl="1"/>
            <a:r>
              <a:rPr lang="en-US" dirty="0"/>
              <a:t>Manali Tour Packages page from </a:t>
            </a:r>
            <a:r>
              <a:rPr lang="en-US" dirty="0" err="1"/>
              <a:t>TravelTriangle</a:t>
            </a:r>
            <a:r>
              <a:rPr lang="en-US" dirty="0"/>
              <a:t>.</a:t>
            </a:r>
          </a:p>
          <a:p>
            <a:pPr marL="571500" lvl="1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Tools &amp; Technologies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Requests</a:t>
            </a:r>
          </a:p>
          <a:p>
            <a:pPr lvl="1"/>
            <a:r>
              <a:rPr lang="en-US" dirty="0" err="1"/>
              <a:t>BeautifulSoup</a:t>
            </a:r>
            <a:endParaRPr lang="en-US" dirty="0"/>
          </a:p>
          <a:p>
            <a:pPr lvl="1"/>
            <a:r>
              <a:rPr lang="en-US" dirty="0"/>
              <a:t>Pandas</a:t>
            </a:r>
          </a:p>
          <a:p>
            <a:pPr marL="114300" indent="0">
              <a:buNone/>
            </a:pPr>
            <a:r>
              <a:rPr lang="en-US" b="1" dirty="0"/>
              <a:t>Process Followed</a:t>
            </a:r>
          </a:p>
          <a:p>
            <a:pPr lvl="1"/>
            <a:r>
              <a:rPr lang="en-US" dirty="0"/>
              <a:t>Identified the target URL</a:t>
            </a:r>
          </a:p>
          <a:p>
            <a:pPr lvl="1"/>
            <a:r>
              <a:rPr lang="en-US" dirty="0"/>
              <a:t>Sent HTTP requests using headers</a:t>
            </a:r>
          </a:p>
          <a:p>
            <a:pPr lvl="1"/>
            <a:r>
              <a:rPr lang="en-US" dirty="0"/>
              <a:t>Parsed HTML using </a:t>
            </a:r>
            <a:r>
              <a:rPr lang="en-US" dirty="0" err="1"/>
              <a:t>BeautifulSoup</a:t>
            </a:r>
            <a:endParaRPr lang="en-US" dirty="0"/>
          </a:p>
          <a:p>
            <a:pPr lvl="1"/>
            <a:r>
              <a:rPr lang="en-US" dirty="0"/>
              <a:t>Extracted relevant fields:</a:t>
            </a:r>
          </a:p>
          <a:p>
            <a:pPr lvl="2"/>
            <a:r>
              <a:rPr lang="en-US" dirty="0"/>
              <a:t>Destination name</a:t>
            </a:r>
          </a:p>
          <a:p>
            <a:pPr lvl="2"/>
            <a:r>
              <a:rPr lang="en-US" dirty="0"/>
              <a:t>Package duration</a:t>
            </a:r>
          </a:p>
          <a:p>
            <a:pPr lvl="2"/>
            <a:r>
              <a:rPr lang="en-US" dirty="0"/>
              <a:t>Price</a:t>
            </a:r>
          </a:p>
          <a:p>
            <a:pPr lvl="2"/>
            <a:r>
              <a:rPr lang="en-US" dirty="0"/>
              <a:t>Package title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54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5C8E-DDB5-814F-8DE3-F638088F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53" y="242358"/>
            <a:ext cx="8286946" cy="315912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Dataset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F34AC-5F61-43F9-F8B7-0528A90E1362}"/>
              </a:ext>
            </a:extLst>
          </p:cNvPr>
          <p:cNvSpPr txBox="1"/>
          <p:nvPr/>
        </p:nvSpPr>
        <p:spPr>
          <a:xfrm>
            <a:off x="329153" y="707010"/>
            <a:ext cx="2554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Raw data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22E98-A105-5205-C26D-89785B137C93}"/>
              </a:ext>
            </a:extLst>
          </p:cNvPr>
          <p:cNvSpPr txBox="1"/>
          <p:nvPr/>
        </p:nvSpPr>
        <p:spPr>
          <a:xfrm>
            <a:off x="329153" y="3429000"/>
            <a:ext cx="1875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Clean data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F3328-E267-3E34-064D-37494548C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59" y="662700"/>
            <a:ext cx="9647756" cy="276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F069AC-937E-FD32-BD83-438F89F1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10" y="3533430"/>
            <a:ext cx="9388654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5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0111-EC13-391E-E2FF-EA72427F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8" y="349839"/>
            <a:ext cx="4280555" cy="662396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Exploratory Data Analysis: </a:t>
            </a:r>
            <a:br>
              <a:rPr lang="en-IN" sz="2800" dirty="0"/>
            </a:b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E5674-DD2B-BDC5-DE5E-6701F1E6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574" y="750969"/>
            <a:ext cx="11157017" cy="5376453"/>
          </a:xfrm>
        </p:spPr>
        <p:txBody>
          <a:bodyPr>
            <a:normAutofit/>
          </a:bodyPr>
          <a:lstStyle/>
          <a:p>
            <a:r>
              <a:rPr lang="en-IN" sz="2000" b="1" dirty="0"/>
              <a:t>Overview of the data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155FD-6415-A731-CBCD-83A4AFCD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18" y="1413365"/>
            <a:ext cx="5559701" cy="442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1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CD1E5-D08E-C8A5-E4C0-1D1D8D39ACAA}"/>
              </a:ext>
            </a:extLst>
          </p:cNvPr>
          <p:cNvSpPr txBox="1"/>
          <p:nvPr/>
        </p:nvSpPr>
        <p:spPr>
          <a:xfrm flipH="1">
            <a:off x="561803" y="386499"/>
            <a:ext cx="4566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Problem Statement !!!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2E3C0-B035-F2FE-6DFA-BBFF0F7D56AA}"/>
              </a:ext>
            </a:extLst>
          </p:cNvPr>
          <p:cNvSpPr txBox="1"/>
          <p:nvPr/>
        </p:nvSpPr>
        <p:spPr>
          <a:xfrm>
            <a:off x="561802" y="848164"/>
            <a:ext cx="10599533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distribution of Package Original Price?</a:t>
            </a:r>
          </a:p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:-  Numerical data</a:t>
            </a:r>
          </a:p>
          <a:p>
            <a:pPr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Prices are right-skewed, meaning most tour packages are affordable, with only a few very expensive ones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small number of high-priced packages create a long tail, indicating premium or luxury tours.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010E8-B012-4194-216F-85BF94926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5" y="2817934"/>
            <a:ext cx="6150224" cy="35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383BC1-8C77-E8FE-CEA4-7E1E161206CF}"/>
              </a:ext>
            </a:extLst>
          </p:cNvPr>
          <p:cNvSpPr txBox="1"/>
          <p:nvPr/>
        </p:nvSpPr>
        <p:spPr>
          <a:xfrm>
            <a:off x="530258" y="53643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9"/>
              </a:spcBef>
              <a:spcAft>
                <a:spcPts val="726"/>
              </a:spcAft>
            </a:pPr>
            <a:r>
              <a:rPr lang="en-US" sz="1800" b="1" dirty="0"/>
              <a:t> 2. Analyze the top 4 popular travel destinations.</a:t>
            </a:r>
            <a:r>
              <a:rPr lang="en-US" sz="1800" b="1" i="0" dirty="0">
                <a:solidFill>
                  <a:srgbClr val="FFFFFF"/>
                </a:solidFill>
                <a:effectLst/>
                <a:latin typeface="system-ui"/>
              </a:rPr>
              <a:t>2. How are prices distributed across packages?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78B3C-4FB3-84B0-5457-2E4AF2042009}"/>
              </a:ext>
            </a:extLst>
          </p:cNvPr>
          <p:cNvSpPr txBox="1"/>
          <p:nvPr/>
        </p:nvSpPr>
        <p:spPr>
          <a:xfrm>
            <a:off x="700051" y="975011"/>
            <a:ext cx="96129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Insight :- Categorical data</a:t>
            </a:r>
          </a:p>
          <a:p>
            <a:pPr>
              <a:buNone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pie chart shows that travel packages are heavily concentrated in a few top cities.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cities dominate the market, while other cities contribute a relatively smaller share of packages.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F6C188-2353-66E9-8D3D-2A904B17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19" y="2989006"/>
            <a:ext cx="5582467" cy="35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9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0D2DD1-4588-110F-09D1-2BB26BD7E4FE}"/>
              </a:ext>
            </a:extLst>
          </p:cNvPr>
          <p:cNvSpPr txBox="1"/>
          <p:nvPr/>
        </p:nvSpPr>
        <p:spPr>
          <a:xfrm>
            <a:off x="615100" y="477707"/>
            <a:ext cx="6094428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9"/>
              </a:spcBef>
              <a:spcAft>
                <a:spcPts val="1451"/>
              </a:spcAft>
            </a:pPr>
            <a:r>
              <a:rPr lang="en-US" sz="2000" b="1" dirty="0"/>
              <a:t>3. Analyze the Hotel Rating</a:t>
            </a:r>
          </a:p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effectLst/>
                <a:latin typeface="system-ui"/>
              </a:rPr>
              <a:t>How are ratings distributed?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AA384-A8AA-4EE0-6C4C-852E053C4B79}"/>
              </a:ext>
            </a:extLst>
          </p:cNvPr>
          <p:cNvSpPr txBox="1"/>
          <p:nvPr/>
        </p:nvSpPr>
        <p:spPr>
          <a:xfrm>
            <a:off x="822489" y="875813"/>
            <a:ext cx="109798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:- Numerical data</a:t>
            </a:r>
          </a:p>
          <a:p>
            <a:pPr algn="just"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are mostly clustered around higher values (3–4 stars), indicating good overall service quality.</a:t>
            </a:r>
          </a:p>
          <a:p>
            <a:pPr algn="just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few low ratings (1–2 stars) are observed, showing limited negative feedback.</a:t>
            </a:r>
          </a:p>
          <a:p>
            <a:pPr algn="just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customer sentiment is positive, suggesting high satisfaction with tour packages</a:t>
            </a:r>
            <a:r>
              <a:rPr lang="en-US" sz="1600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9743C-C7FE-2C55-0800-A32CC30B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80" y="3008671"/>
            <a:ext cx="6692356" cy="351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82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7A919-24A1-2E80-15A3-0F3E4F77045E}"/>
              </a:ext>
            </a:extLst>
          </p:cNvPr>
          <p:cNvSpPr txBox="1"/>
          <p:nvPr/>
        </p:nvSpPr>
        <p:spPr>
          <a:xfrm>
            <a:off x="624525" y="458854"/>
            <a:ext cx="83424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9"/>
              </a:spcBef>
              <a:spcAft>
                <a:spcPts val="1451"/>
              </a:spcAft>
            </a:pPr>
            <a:r>
              <a:rPr lang="en-US" sz="2000" b="1" dirty="0"/>
              <a:t>4. How does Hotel Rating affect the Package Original </a:t>
            </a:r>
            <a:r>
              <a:rPr lang="en-US" sz="2000" b="1" dirty="0" err="1"/>
              <a:t>Price?</a:t>
            </a:r>
            <a:r>
              <a:rPr lang="en-US" sz="2000" b="1" i="0" dirty="0" err="1">
                <a:solidFill>
                  <a:srgbClr val="FFFFFF"/>
                </a:solidFill>
                <a:effectLst/>
                <a:latin typeface="system-ui"/>
              </a:rPr>
              <a:t>e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system-ui"/>
              </a:rPr>
              <a:t> and Rating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0F9E3-446A-54EF-AA1C-CF4D53C2B23E}"/>
              </a:ext>
            </a:extLst>
          </p:cNvPr>
          <p:cNvSpPr txBox="1"/>
          <p:nvPr/>
        </p:nvSpPr>
        <p:spPr>
          <a:xfrm>
            <a:off x="624525" y="1166739"/>
            <a:ext cx="9876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:-  Numerical - Numerical</a:t>
            </a:r>
          </a:p>
          <a:p>
            <a:pPr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positive relationship between price and rating.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packages tend to deliver better quality, leading to higher ratings.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perceive higher-priced packages as better value.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AB207-61D1-A54E-315F-84F2C4C3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9" y="3331608"/>
            <a:ext cx="5666364" cy="32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69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B4CE87-A247-FC62-BBE9-B0307D1A2EDA}"/>
              </a:ext>
            </a:extLst>
          </p:cNvPr>
          <p:cNvSpPr txBox="1"/>
          <p:nvPr/>
        </p:nvSpPr>
        <p:spPr>
          <a:xfrm>
            <a:off x="709367" y="505988"/>
            <a:ext cx="93686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9"/>
              </a:spcBef>
              <a:spcAft>
                <a:spcPts val="1451"/>
              </a:spcAft>
            </a:pPr>
            <a:r>
              <a:rPr lang="en-US" sz="2000" b="1" dirty="0"/>
              <a:t> 5. What is the relationship between Number of Days and Package Original        Price ?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system-ui"/>
              </a:rPr>
              <a:t>Pri vs Rating by Price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98EF6-341A-013B-71CB-5E3F1F2EA78B}"/>
              </a:ext>
            </a:extLst>
          </p:cNvPr>
          <p:cNvSpPr txBox="1"/>
          <p:nvPr/>
        </p:nvSpPr>
        <p:spPr>
          <a:xfrm>
            <a:off x="709367" y="1337187"/>
            <a:ext cx="994292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Insight :-  Numerical - Numerical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relationship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the number of days and package price. However, price variation within the same duration suggests that other factors also influence package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Travel companies can price longer packages higher but should also consider service quality and        destination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5398C-3B30-2BFA-8A8C-F59B02C6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52" y="3237468"/>
            <a:ext cx="5781368" cy="34314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F687B-E0AD-B96E-4C6F-894BBF103E7E}"/>
              </a:ext>
            </a:extLst>
          </p:cNvPr>
          <p:cNvSpPr txBox="1"/>
          <p:nvPr/>
        </p:nvSpPr>
        <p:spPr>
          <a:xfrm>
            <a:off x="1831159" y="1724791"/>
            <a:ext cx="955642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Budget packages dominate, showing high demand for affordable travel.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Higher-priced packages receive better ratings, indicating superior quality.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Longer-duration tours maintain stable and higher satisfaction.</a:t>
            </a:r>
          </a:p>
          <a:p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Clear segmentation exists between budget and premium travelers.</a:t>
            </a:r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7560A-B4E5-506F-9707-384BBB868253}"/>
              </a:ext>
            </a:extLst>
          </p:cNvPr>
          <p:cNvSpPr txBox="1"/>
          <p:nvPr/>
        </p:nvSpPr>
        <p:spPr>
          <a:xfrm>
            <a:off x="747076" y="769938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00564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107C7-D56E-B0A0-2FC6-30ED32967325}"/>
              </a:ext>
            </a:extLst>
          </p:cNvPr>
          <p:cNvSpPr txBox="1"/>
          <p:nvPr/>
        </p:nvSpPr>
        <p:spPr>
          <a:xfrm>
            <a:off x="661448" y="1674674"/>
            <a:ext cx="99672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successfully analyzed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Manali tour package data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web scraping and exploratory data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show that while budget packages attract most travelers, premium packages deliver higher satisfaction.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insights can help travel platforms optimize pricing, improve package quality, and target the right customer segments effectively</a:t>
            </a:r>
            <a:r>
              <a:rPr lang="en-US" sz="1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6301C-08CF-561D-BC2B-5C9FC2AF509E}"/>
              </a:ext>
            </a:extLst>
          </p:cNvPr>
          <p:cNvSpPr txBox="1"/>
          <p:nvPr/>
        </p:nvSpPr>
        <p:spPr>
          <a:xfrm>
            <a:off x="897904" y="722804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48873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738</Words>
  <Application>Microsoft Office PowerPoint</Application>
  <PresentationFormat>Widescreen</PresentationFormat>
  <Paragraphs>103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Libre Baskerville</vt:lpstr>
      <vt:lpstr>Lato Black</vt:lpstr>
      <vt:lpstr>Calibri</vt:lpstr>
      <vt:lpstr>Arial</vt:lpstr>
      <vt:lpstr>system-ui</vt:lpstr>
      <vt:lpstr>Office Theme</vt:lpstr>
      <vt:lpstr>PowerPoint Presentation</vt:lpstr>
      <vt:lpstr>PowerPoint Presentation</vt:lpstr>
      <vt:lpstr>Problem Statement </vt:lpstr>
      <vt:lpstr>Objective </vt:lpstr>
      <vt:lpstr>From Where the Data Is Obtained </vt:lpstr>
      <vt:lpstr>Web Scraping – Details </vt:lpstr>
      <vt:lpstr>Dataset</vt:lpstr>
      <vt:lpstr>Exploratory Data Analysis: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Swati Ingole</cp:lastModifiedBy>
  <cp:revision>4</cp:revision>
  <dcterms:created xsi:type="dcterms:W3CDTF">2021-02-16T05:19:01Z</dcterms:created>
  <dcterms:modified xsi:type="dcterms:W3CDTF">2025-12-31T08:05:39Z</dcterms:modified>
</cp:coreProperties>
</file>